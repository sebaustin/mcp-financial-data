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1280160"/>
            <a:ext cx="4754880" cy="4754880"/>
          </a:xfrm>
          <a:prstGeom prst="roundRect">
            <a:avLst>
              <a:gd name="adj" fmla="val 11538"/>
            </a:avLst>
          </a:prstGeom>
          <a:solidFill>
            <a:srgbClr val="15244A"/>
          </a:solidFill>
          <a:ln/>
        </p:spPr>
      </p:sp>
      <p:sp>
        <p:nvSpPr>
          <p:cNvPr id="3" name="Shape 1"/>
          <p:cNvSpPr/>
          <p:nvPr/>
        </p:nvSpPr>
        <p:spPr>
          <a:xfrm rot="1440000">
            <a:off x="-1463040" y="4206240"/>
            <a:ext cx="4206240" cy="4206240"/>
          </a:xfrm>
          <a:prstGeom prst="roundRect">
            <a:avLst>
              <a:gd name="adj" fmla="val 13043"/>
            </a:avLst>
          </a:prstGeom>
          <a:solidFill>
            <a:srgbClr val="1A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SPEC 2025-11-25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0607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MCP server for financial data
</a:t>
            </a:r>
            <a:pPr indent="0" marL="0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</a:t>
            </a:r>
            <a:pPr indent="0" marL="0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cites its sources</a:t>
            </a:r>
            <a:pPr indent="0" marL="0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
</a:t>
            </a:r>
            <a:pPr indent="0" marL="0">
              <a:lnSpc>
                <a:spcPct val="104000"/>
              </a:lnSpc>
              <a:buNone/>
            </a:pPr>
            <a:r>
              <a:rPr lang="en-US" sz="4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stays silent.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566928" y="361188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+ FRED + Polygon, behind OAuth 2.1, with a citation-grounded 10-K extractor powered by Claude Sonnet 4.5 and an MCP Apps inline UI. Every model claim traces back to the filing — or it never ships.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4617720"/>
            <a:ext cx="1508760" cy="384048"/>
          </a:xfrm>
          <a:prstGeom prst="roundRect">
            <a:avLst>
              <a:gd name="adj" fmla="val 2381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617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passing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4617720"/>
            <a:ext cx="1824228" cy="384048"/>
          </a:xfrm>
          <a:prstGeom prst="roundRect">
            <a:avLst>
              <a:gd name="adj" fmla="val 2381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4617720"/>
            <a:ext cx="182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~87%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9100" y="4617720"/>
            <a:ext cx="1824228" cy="384048"/>
          </a:xfrm>
          <a:prstGeom prst="roundRect">
            <a:avLst>
              <a:gd name="adj" fmla="val 2381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9100" y="4617720"/>
            <a:ext cx="182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mypy --strict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617720"/>
            <a:ext cx="2034540" cy="384048"/>
          </a:xfrm>
          <a:prstGeom prst="roundRect">
            <a:avLst>
              <a:gd name="adj" fmla="val 2381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61772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judge 0.93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17052" y="4617720"/>
            <a:ext cx="1719072" cy="384048"/>
          </a:xfrm>
          <a:prstGeom prst="roundRect">
            <a:avLst>
              <a:gd name="adj" fmla="val 2381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7052" y="46177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licensed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5522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7296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72968" y="5522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tools · 1 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7900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79008" y="5522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~7.4k LOC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504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85048" y="55229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ADRs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327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github.com/SebAustin/mcp-financial-data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Financial-services AI fails the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audit checklist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a quiet, expensive failure mode. This project treats all four as hard constraints — enforced in code and in CI, not in a style guide.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11055096" cy="786384"/>
          </a:xfrm>
          <a:prstGeom prst="roundRect">
            <a:avLst>
              <a:gd name="adj" fmla="val 814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734056"/>
            <a:ext cx="64008" cy="713232"/>
          </a:xfrm>
          <a:prstGeom prst="rect">
            <a:avLst/>
          </a:prstGeom>
          <a:solidFill>
            <a:srgbClr val="FF6470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9169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3A1620"/>
          </a:solidFill>
          <a:ln w="9525">
            <a:solidFill>
              <a:srgbClr val="7A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8176" y="2697480"/>
            <a:ext cx="9957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Wrong-source citations.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with a number, but the citation points at the wrong filing.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11055096" cy="786384"/>
          </a:xfrm>
          <a:prstGeom prst="roundRect">
            <a:avLst>
              <a:gd name="adj" fmla="val 814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648456"/>
            <a:ext cx="64008" cy="713232"/>
          </a:xfrm>
          <a:prstGeom prst="rect">
            <a:avLst/>
          </a:prstGeom>
          <a:solidFill>
            <a:srgbClr val="FF6470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8313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3A1620"/>
          </a:solidFill>
          <a:ln w="9525">
            <a:solidFill>
              <a:srgbClr val="7A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08176" y="3611880"/>
            <a:ext cx="9957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fact drops.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omits a fact when the source doesn't support it — with no signal anything was dropped.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1055096" cy="786384"/>
          </a:xfrm>
          <a:prstGeom prst="roundRect">
            <a:avLst>
              <a:gd name="adj" fmla="val 814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562856"/>
            <a:ext cx="64008" cy="713232"/>
          </a:xfrm>
          <a:prstGeom prst="rect">
            <a:avLst/>
          </a:prstGeom>
          <a:solidFill>
            <a:srgbClr val="FF6470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7457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3A1620"/>
          </a:solidFill>
          <a:ln w="9525">
            <a:solidFill>
              <a:srgbClr val="7A2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08176" y="4526280"/>
            <a:ext cx="9957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Unscoped integrations.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integration never validates JWT scopes per request.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55096" cy="786384"/>
          </a:xfrm>
          <a:prstGeom prst="roundRect">
            <a:avLst>
              <a:gd name="adj" fmla="val 814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5477256"/>
            <a:ext cx="64008" cy="713232"/>
          </a:xfrm>
          <a:prstGeom prst="rect">
            <a:avLst/>
          </a:prstGeom>
          <a:solidFill>
            <a:srgbClr val="FF6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566013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3A1620"/>
          </a:solidFill>
          <a:ln w="9525">
            <a:solidFill>
              <a:srgbClr val="7A2C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660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08176" y="5440680"/>
            <a:ext cx="9957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evals.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isn't replayable, so yesterday's regression looks like a flaky judge today.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IT 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server. Five tools, one inline app,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hard rule.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FastMCP server speaking MCP spec 2025-11-25 over streamable HTTP. Read-only market and filing data — plus a Claude-grounded extractor that is the centrepiece.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70048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52943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TOOL / 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edgar.list_filings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Recent SEC filings for a CIK.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edgar.company_facts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XBRL facts — us-gaap concepts.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fred.series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FRED economic time series.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polygon.aggregates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OHLCV aggregate bars.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tenk.extract_section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Citation-grounded 10-K claims.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MCP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tenk-summary-card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Inline UI rendering the extraction.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FC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RFC 6750 resource server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Validates JWTs against an external IdP.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322576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request is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authenticated, cached, and traceable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41D2E"/>
          </a:solidFill>
          <a:ln w="15875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53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03904" y="2903220"/>
            <a:ext cx="4572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242316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1203B"/>
          </a:solidFill>
          <a:ln w="15875">
            <a:solidFill>
              <a:srgbClr val="35589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2.1 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953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+ PKCE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34656" y="2903220"/>
            <a:ext cx="45720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28432" y="242316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1203B"/>
          </a:solidFill>
          <a:ln w="15875">
            <a:solidFill>
              <a:srgbClr val="35589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28432" y="2569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FastMCP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2953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28632" y="3401568"/>
            <a:ext cx="0" cy="457200"/>
          </a:xfrm>
          <a:prstGeom prst="line">
            <a:avLst/>
          </a:prstGeom>
          <a:noFill/>
          <a:ln w="19050">
            <a:solidFill>
              <a:srgbClr val="6E7C9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023360"/>
            <a:ext cx="2558034" cy="1005840"/>
          </a:xfrm>
          <a:prstGeom prst="roundRect">
            <a:avLst>
              <a:gd name="adj" fmla="val 9091"/>
            </a:avLst>
          </a:prstGeom>
          <a:solidFill>
            <a:srgbClr val="141D2E"/>
          </a:solidFill>
          <a:ln w="1397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4206240"/>
            <a:ext cx="237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EDGAR · FRED · Polygon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626864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data clients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99282" y="4023360"/>
            <a:ext cx="2558034" cy="1005840"/>
          </a:xfrm>
          <a:prstGeom prst="roundRect">
            <a:avLst>
              <a:gd name="adj" fmla="val 9091"/>
            </a:avLst>
          </a:prstGeom>
          <a:solidFill>
            <a:srgbClr val="11203B"/>
          </a:solidFill>
          <a:ln w="13970">
            <a:solidFill>
              <a:srgbClr val="35589C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0722" y="4206240"/>
            <a:ext cx="237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10-K Extractor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0722" y="4626864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citation-grounded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1636" y="4023360"/>
            <a:ext cx="2558034" cy="1005840"/>
          </a:xfrm>
          <a:prstGeom prst="roundRect">
            <a:avLst>
              <a:gd name="adj" fmla="val 9091"/>
            </a:avLst>
          </a:prstGeom>
          <a:solidFill>
            <a:srgbClr val="141D2E"/>
          </a:solidFill>
          <a:ln w="1397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23076" y="4206240"/>
            <a:ext cx="237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Apps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3076" y="4626864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TenKSummaryCard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63990" y="4023360"/>
            <a:ext cx="2558034" cy="1005840"/>
          </a:xfrm>
          <a:prstGeom prst="roundRect">
            <a:avLst>
              <a:gd name="adj" fmla="val 9091"/>
            </a:avLst>
          </a:prstGeom>
          <a:solidFill>
            <a:srgbClr val="141D2E"/>
          </a:solidFill>
          <a:ln w="1397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55430" y="4206240"/>
            <a:ext cx="2375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harness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55430" y="4626864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/ full / offline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534924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5183A"/>
          </a:solidFill>
          <a:ln w="12700">
            <a:solidFill>
              <a:srgbClr val="352C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3492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B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 →  Citations API</a:t>
            </a:r>
            <a:pPr algn="ctr" indent="0" marL="0">
              <a:buNone/>
            </a:pPr>
            <a:r>
              <a:rPr lang="en-US" sz="11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150" b="1" dirty="0">
                <a:solidFill>
                  <a:srgbClr val="C9B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  →  eval judge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27648"/>
            <a:ext cx="9500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EDGAR / FRED / Polygon / extractor response is keyed into a 24-hour SQLite cache — so eval runs are reproducible and the metered APIs aren't hammered.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CENTREPIECE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citation contract: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 the span, or drop the claim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10-K extractor calls Claude Sonnet 4.5 with the Anthropic Citations API. Its output is filtered through a contract no model output can bypass.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5344668" cy="1874520"/>
          </a:xfrm>
          <a:prstGeom prst="roundRect">
            <a:avLst>
              <a:gd name="adj" fmla="val 4878"/>
            </a:avLst>
          </a:prstGeom>
          <a:solidFill>
            <a:srgbClr val="141D2E"/>
          </a:solidFill>
          <a:ln w="15875">
            <a:solidFill>
              <a:srgbClr val="7A2C3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889504"/>
            <a:ext cx="1371600" cy="329184"/>
          </a:xfrm>
          <a:prstGeom prst="roundRect">
            <a:avLst>
              <a:gd name="adj" fmla="val 44444"/>
            </a:avLst>
          </a:prstGeom>
          <a:solidFill>
            <a:srgbClr val="3A162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2889504"/>
            <a:ext cx="34244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uncited model output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3383280"/>
            <a:ext cx="47960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"[INFERENCE] Apple may face increased regulatory scrutiny in the EU over App Store policies."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4133088"/>
            <a:ext cx="4796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moved to notes, </a:t>
            </a:r>
            <a:pPr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prefixed [INFERENCE] — never a fact.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7356" y="2670048"/>
            <a:ext cx="5344668" cy="1874520"/>
          </a:xfrm>
          <a:prstGeom prst="roundRect">
            <a:avLst>
              <a:gd name="adj" fmla="val 4878"/>
            </a:avLst>
          </a:prstGeom>
          <a:solidFill>
            <a:srgbClr val="141D2E"/>
          </a:solidFill>
          <a:ln w="15875">
            <a:solidFill>
              <a:srgbClr val="1E6B47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5100" y="2889504"/>
            <a:ext cx="1371600" cy="329184"/>
          </a:xfrm>
          <a:prstGeom prst="roundRect">
            <a:avLst>
              <a:gd name="adj" fmla="val 44444"/>
            </a:avLst>
          </a:prstGeom>
          <a:solidFill>
            <a:srgbClr val="0F3D2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2E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96428" y="2889504"/>
            <a:ext cx="34244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citation-grounded claim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9964" y="3383280"/>
            <a:ext cx="47960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Company’s business depends on the timely receipt and successful integration of components from third-party manufacturers."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9964" y="4133088"/>
            <a:ext cx="4796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CitedClaim + ≥1 Citation span </a:t>
            </a:r>
            <a:pPr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AAPL 10-K FY2025 Item 1A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892040"/>
            <a:ext cx="1393546" cy="457200"/>
          </a:xfrm>
          <a:prstGeom prst="roundRect">
            <a:avLst>
              <a:gd name="adj" fmla="val 200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892040"/>
            <a:ext cx="1393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0474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34794" y="4892040"/>
            <a:ext cx="1982419" cy="457200"/>
          </a:xfrm>
          <a:prstGeom prst="roundRect">
            <a:avLst>
              <a:gd name="adj" fmla="val 20000"/>
            </a:avLst>
          </a:prstGeom>
          <a:solidFill>
            <a:srgbClr val="11203B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34794" y="4892040"/>
            <a:ext cx="1982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Citations span?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17213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91533" y="4892040"/>
            <a:ext cx="2403043" cy="457200"/>
          </a:xfrm>
          <a:prstGeom prst="roundRect">
            <a:avLst>
              <a:gd name="adj" fmla="val 20000"/>
            </a:avLst>
          </a:prstGeom>
          <a:solidFill>
            <a:srgbClr val="11203B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1533" y="4892040"/>
            <a:ext cx="2403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F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verbatim in source?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94576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C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68896" y="4892040"/>
            <a:ext cx="1393546" cy="457200"/>
          </a:xfrm>
          <a:prstGeom prst="roundRect">
            <a:avLst>
              <a:gd name="adj" fmla="val 20000"/>
            </a:avLst>
          </a:prstGeom>
          <a:solidFill>
            <a:srgbClr val="0F3D2A"/>
          </a:solidFill>
          <a:ln w="12700">
            <a:solidFill>
              <a:srgbClr val="1E6B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4892040"/>
            <a:ext cx="1393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CitedClaim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62442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36762" y="4892040"/>
            <a:ext cx="2739542" cy="457200"/>
          </a:xfrm>
          <a:prstGeom prst="roundRect">
            <a:avLst>
              <a:gd name="adj" fmla="val 20000"/>
            </a:avLst>
          </a:prstGeom>
          <a:solidFill>
            <a:srgbClr val="3A1620"/>
          </a:solidFill>
          <a:ln w="12700">
            <a:solidFill>
              <a:srgbClr val="7A2C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36762" y="4892040"/>
            <a:ext cx="27395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dropped / [INFERENCE]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27648"/>
            <a:ext cx="9500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0003 — SEC 17a-4 / FINRA 4511 expect verifiable lineage from any model artifact to the source filing.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analyst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actually sees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tenk.extract_section result renders inline as an MCP Apps card — facts with clickable SEC citation pills; speculation parked in notes.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0350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5875">
            <a:solidFill>
              <a:srgbClr val="5C8BE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9169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Inc.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2826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CIK 0000320193  ·  AAPL 10-K FY2025 Item 1A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" y="38862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Company’s business depends on the timely receipt and successful integration of components from third-party manufacturers.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4398264"/>
            <a:ext cx="3701491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398264"/>
            <a:ext cx="3701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↗  The Company's business depends on the timely receipt…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6112" y="48188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exposed to global macroeconomic conditions, including inflation, interest rates, and FX fluctuations.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5330952"/>
            <a:ext cx="3761842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5330952"/>
            <a:ext cx="3761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↗  exposed to global macroeconomic conditions, inflation…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6112" y="5769864"/>
            <a:ext cx="5376672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58613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claude-sonnet-4-5      citations: 2 / 2      cost: $0.0000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67728" y="2697480"/>
            <a:ext cx="4654296" cy="1060704"/>
          </a:xfrm>
          <a:prstGeom prst="roundRect">
            <a:avLst>
              <a:gd name="adj" fmla="val 7759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2916936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 pills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05472" y="3337560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 carries the cited span and a cgi-bin/browse-edgar URL — one click to the SEC source.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67728" y="3904488"/>
            <a:ext cx="4654296" cy="1060704"/>
          </a:xfrm>
          <a:prstGeom prst="roundRect">
            <a:avLst>
              <a:gd name="adj" fmla="val 7759"/>
            </a:avLst>
          </a:prstGeom>
          <a:solidFill>
            <a:srgbClr val="141D2E"/>
          </a:solidFill>
          <a:ln w="13970">
            <a:solidFill>
              <a:srgbClr val="7A2C3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4069080"/>
            <a:ext cx="4215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NOT SURFACED AS FACT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87184" y="4325112"/>
            <a:ext cx="4215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FF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[INFERENCE] Apple may face increased regulatory scrutiny in the EU over App Store policies.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67728" y="5111496"/>
            <a:ext cx="4654296" cy="1106424"/>
          </a:xfrm>
          <a:prstGeom prst="roundRect">
            <a:avLst>
              <a:gd name="adj" fmla="val 7438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5472" y="533095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Content-addressed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05472" y="5751576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bundle ships with a SHA-256 digest in the UI envelope, so hosts detect source-vs-artifact drift.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2.1 — a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server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never an IdP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MCP spec 2025-11-25, an authenticated MCP server is a resource server. It validates JWTs minted by an external IdP — it never mints them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RFC 6750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bearer-token checks: issuer, audience, expiry and signature against the configured JWKS.    ·  auth/oauth.py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3208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allowlist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is pinned to an explicit algorithms set — closing the alg=none and key-confusion attacks of RFC 8725.    ·  ADR 0005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9872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Per-request 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middleware authenticates every HTTP request — a clean 401 with WWW-Authenticate on failure.    ·  ADR 0004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8006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754880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IdP only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Auth0 / Authentik / Keycloak. No public keys hardcoded; embedding an IdP would widen the attack surface.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5321808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dev-token CLI minter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for local testing — gated on a local issuer URL so it can't be mistaken for production auth.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DATA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Good-citizen clients: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 Access, rate limits, caching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EDGAR, FRED and Polygon share one design — because SEC Fair Access, a spend cap, and eval reproducibility all force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EDGAR Fair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 request carries a contact User-Agent; the process is rate-limited to ≤ 10 req/sec across all callers.    ·  ADR 0006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3208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24-hour cache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SQLite response cache with 24h TTL — eval runs replay identically and metered APIs aren't burned.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9872" y="2670048"/>
            <a:ext cx="3502152" cy="1828800"/>
          </a:xfrm>
          <a:prstGeom prst="roundRect">
            <a:avLst>
              <a:gd name="adj" fmla="val 4500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889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286207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Retries + backoff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3438144"/>
            <a:ext cx="30266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Tenacity-backed exponential retry on 429s — verified by tests asserting concurrency stays under the rate ceiling.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8006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754880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cap.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MAX_API_SPEND_USD is enforced inside the extractor and the eval harness — not just on a dashboard.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5321808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rules.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requests, no print(), no subprocess(shell=True), no bare except — anywhere in the codebase.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PROOF, NOT VIBES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deterministic eval harness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gates every change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585466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185416"/>
            <a:ext cx="1616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exec-accuracy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761488"/>
            <a:ext cx="21099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structural match of tool output against the expected result.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0138" y="1993392"/>
            <a:ext cx="2585466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9594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59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39946" y="2185416"/>
            <a:ext cx="1616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 coverage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27882" y="2761488"/>
            <a:ext cx="21099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facts carrying a valid citation — must be 1.00 for tenk.*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3348" y="1993392"/>
            <a:ext cx="2585466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2804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80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63156" y="2185416"/>
            <a:ext cx="1616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Opus 4.7 judge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1092" y="2761488"/>
            <a:ext cx="21099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five-axis rubric scored by Claude Opus 4.7, replayable per case.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6558" y="1993392"/>
            <a:ext cx="2585466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56014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601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6366" y="2185416"/>
            <a:ext cx="1616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gates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4302" y="2761488"/>
            <a:ext cx="210997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--budget and --min-judge-score abort before spend or quality slips.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22192"/>
          <a:ext cx="11055096" cy="914400"/>
        </p:xfrm>
        <a:graphic>
          <a:graphicData uri="http://schemas.openxmlformats.org/drawingml/2006/table">
            <a:tbl>
              <a:tblPr/>
              <a:tblGrid>
                <a:gridCol w="4105656"/>
                <a:gridCol w="1371600"/>
                <a:gridCol w="1463040"/>
                <a:gridCol w="1463040"/>
                <a:gridCol w="1371600"/>
                <a:gridCol w="1280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EXEC-ACC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JUDGE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FB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Offline full  (--offline)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Live full  (--budget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E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8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$0.08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2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66928" y="6327648"/>
            <a:ext cx="9500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the offline smoke gate on every PR; a nightly workflow runs the live suite and posts a sticky eval-delta comment.    git b8a4ba3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HOW IT'S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hygiene,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enforced — not aspired to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below run in CI. A pull request that misses any one of them does not merge.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hard gate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99282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7570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13" name="Text 11"/>
          <p:cNvSpPr/>
          <p:nvPr/>
        </p:nvSpPr>
        <p:spPr>
          <a:xfrm>
            <a:off x="3399282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99282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 typing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99282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of src/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1636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18" name="Text 16"/>
          <p:cNvSpPr/>
          <p:nvPr/>
        </p:nvSpPr>
        <p:spPr>
          <a:xfrm>
            <a:off x="6231636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31636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31636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unit tests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63990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82278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23" name="Text 21"/>
          <p:cNvSpPr/>
          <p:nvPr/>
        </p:nvSpPr>
        <p:spPr>
          <a:xfrm>
            <a:off x="9063990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063990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63990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47548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709160"/>
            <a:ext cx="10597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ruff lint + format, mypy --strict, pytest with an 85% coverage floor, and an offline smoke eval, on every push.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66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5221224"/>
            <a:ext cx="10597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records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nine MADR architecture decisions, so any non-default behaviour traces to a one-page rationale.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7790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779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" y="5733288"/>
            <a:ext cx="10597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7.4k lines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package with a near-1:1 test ratio — ~4.1k src · ~3.3k tests.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Modern, typed,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async-first Python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682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234086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916936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+ mcp on streamable HTTP, Starlette ASGI middleware, MCP spec 2025-11-25.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23682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93208" y="234086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916936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async clients, tenacity retries, a SQLite response cache, Pydantic v2 models.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19872" y="2148840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3682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9680" y="2340864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2916936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— Sonnet 4.5 extractor via the Citations API, Opus 4.7 eval judge.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050792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2702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16736" y="4242816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4818888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authlib + PyJWT[crypto] for RFC 6750 resource-server validation against a JWKS.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050792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42702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93208" y="4242816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1144" y="4818888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structured logging — bound context on every tool call, no stray print().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19872" y="4050792"/>
            <a:ext cx="3502152" cy="1627632"/>
          </a:xfrm>
          <a:prstGeom prst="roundRect">
            <a:avLst>
              <a:gd name="adj" fmla="val 5056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42702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2224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0" y="4242816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4818888"/>
            <a:ext cx="3026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for env + lock, ruff, mypy, pytest, pre-commit, Docker, GitHub Actions.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SEE IT RUN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four-beat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demo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fully offline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builds a single-tab story hub — no terminal juggling, deterministic, safe to record.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2571750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8712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22247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" y="3419856"/>
            <a:ext cx="2132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3767328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asks for AAPL Item 1A risks for a diligence memo.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4710" y="2651760"/>
            <a:ext cx="2571750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4166" y="28712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22247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4166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4166" y="3419856"/>
            <a:ext cx="2132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answer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4166" y="3767328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TenKSummaryCard renders with live, clickable SEC citation pills.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2492" y="2651760"/>
            <a:ext cx="2571750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1948" y="28712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22247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19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1948" y="3419856"/>
            <a:ext cx="2132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1948" y="3767328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Speculation parked in notes; eval metrics at 1.0, $0.00, offline.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0274" y="2651760"/>
            <a:ext cx="2571750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69730" y="28712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22247"/>
          </a:solidFill>
          <a:ln w="12700">
            <a:solidFill>
              <a:srgbClr val="3558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973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69730" y="3419856"/>
            <a:ext cx="2132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69730" y="3767328"/>
            <a:ext cx="21328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strip, green CI badge, repo link for the close.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754880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F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demo-start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opens the polished hub  ·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F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demo-video-script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prints the teleprompter.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367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5321808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option: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beat 2 for a real Cursor inline card — see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F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docs/demo/cursor-mcp-setup.md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WHERE IT LANDED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5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v0.1.0 — </a:t>
            </a:r>
            <a:pPr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 and measured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W1 milestone closed with every gate green and the eval table populated from real runs — not placeholders.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live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99282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7570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13" name="Text 11"/>
          <p:cNvSpPr/>
          <p:nvPr/>
        </p:nvSpPr>
        <p:spPr>
          <a:xfrm>
            <a:off x="3399282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99282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judge 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99282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0.85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1636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18" name="Text 16"/>
          <p:cNvSpPr/>
          <p:nvPr/>
        </p:nvSpPr>
        <p:spPr>
          <a:xfrm>
            <a:off x="6231636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$0.08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31636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live run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31636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$5.00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63990" y="2651760"/>
            <a:ext cx="2558034" cy="1783080"/>
          </a:xfrm>
          <a:prstGeom prst="roundRect">
            <a:avLst>
              <a:gd name="adj" fmla="val 4615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82278" y="2670048"/>
            <a:ext cx="2521458" cy="64008"/>
          </a:xfrm>
          <a:prstGeom prst="rect">
            <a:avLst/>
          </a:prstGeom>
          <a:solidFill>
            <a:srgbClr val="2EE08A"/>
          </a:solidFill>
          <a:ln/>
        </p:spPr>
      </p:sp>
      <p:sp>
        <p:nvSpPr>
          <p:cNvPr id="23" name="Text 21"/>
          <p:cNvSpPr/>
          <p:nvPr/>
        </p:nvSpPr>
        <p:spPr>
          <a:xfrm>
            <a:off x="9063990" y="2962656"/>
            <a:ext cx="25580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 ms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063990" y="3767328"/>
            <a:ext cx="2558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smoke latency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63990" y="4041648"/>
            <a:ext cx="2558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path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48006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754880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-m mcp_financial_data.evals.harness --full --offline reproduces the offline table on any machine.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3675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5321808"/>
            <a:ext cx="10597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MSFT XBRL multi-row matching scores 0.80 exec-accuracy — tracked openly in follow-on issues, not hidden.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34472" y="63550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052560" y="4023360"/>
            <a:ext cx="4937760" cy="4937760"/>
          </a:xfrm>
          <a:prstGeom prst="roundRect">
            <a:avLst>
              <a:gd name="adj" fmla="val 11111"/>
            </a:avLst>
          </a:prstGeom>
          <a:solidFill>
            <a:srgbClr val="15244A"/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-1645920" y="-1463040"/>
            <a:ext cx="4206240" cy="4206240"/>
          </a:xfrm>
          <a:prstGeom prst="roundRect">
            <a:avLst>
              <a:gd name="adj" fmla="val 13043"/>
            </a:avLst>
          </a:prstGeom>
          <a:solidFill>
            <a:srgbClr val="1A1B4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40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22247"/>
          </a:solidFill>
          <a:ln w="9525">
            <a:solidFill>
              <a:srgbClr val="325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900" b="1" dirty="0">
                <a:solidFill>
                  <a:srgbClr val="EE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Citations are not a feature here.
</a:t>
            </a:r>
            <a:pPr indent="0" marL="0">
              <a:lnSpc>
                <a:spcPct val="105000"/>
              </a:lnSpc>
              <a:buNone/>
            </a:pPr>
            <a:r>
              <a:rPr lang="en-US" sz="3900" b="1" dirty="0">
                <a:solidFill>
                  <a:srgbClr val="9B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are the contract.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32004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real clients can connect to — OAuth 2.1, spec 2025-11-25.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7947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749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10-K extractor where every claim traces to a verifiable SEC span.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343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42976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replayable eval harness gating every change in CI.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F3D2A"/>
          </a:solidFill>
          <a:ln w="9525">
            <a:solidFill>
              <a:srgbClr val="1E6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846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~7.4k lines, ~87% covered, mypy-strict, 9 ADRs, MIT-licensed.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3200400"/>
            <a:ext cx="3849624" cy="2743200"/>
          </a:xfrm>
          <a:prstGeom prst="roundRect">
            <a:avLst>
              <a:gd name="adj" fmla="val 3333"/>
            </a:avLst>
          </a:prstGeom>
          <a:solidFill>
            <a:srgbClr val="141D2E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3401568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822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382219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github.com/SebAustin/mcp-financial-data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0" y="42153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215384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· make setup · make ci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6085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4608576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demo-start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50017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3960" y="500176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docs/presentation.html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5468112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4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Quickstart, architecture and all nine ADRs live in docs/ and README.md.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63550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mcp-financial-data  ·  v0.1.0  ·  built by Sebastien Henry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mcp-financial-data — project presentation</dc:title>
  <dc:subject>PptxGenJS Presentation</dc:subject>
  <dc:creator>Sebastien Henry</dc:creator>
  <cp:lastModifiedBy>Sebastien Henry</cp:lastModifiedBy>
  <cp:revision>1</cp:revision>
  <dcterms:created xsi:type="dcterms:W3CDTF">2026-05-22T21:16:33Z</dcterms:created>
  <dcterms:modified xsi:type="dcterms:W3CDTF">2026-05-22T21:16:33Z</dcterms:modified>
</cp:coreProperties>
</file>